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2C9-41A6-85F0-98976D4B8531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C9-41A6-85F0-98976D4B8531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2C9-41A6-85F0-98976D4B8531}"/>
              </c:ext>
            </c:extLst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2C9-41A6-85F0-98976D4B8531}"/>
              </c:ext>
            </c:extLst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2C9-41A6-85F0-98976D4B8531}"/>
              </c:ext>
            </c:extLst>
          </c:dPt>
          <c:dPt>
            <c:idx val="5"/>
            <c:invertIfNegative val="0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2C9-41A6-85F0-98976D4B85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turbidity_solids_ratio</c:v>
                </c:pt>
                <c:pt idx="1">
                  <c:v>ph_deviation (★)</c:v>
                </c:pt>
                <c:pt idx="2">
                  <c:v>Hardness</c:v>
                </c:pt>
                <c:pt idx="3">
                  <c:v>Chloramines</c:v>
                </c:pt>
                <c:pt idx="4">
                  <c:v>ph</c:v>
                </c:pt>
                <c:pt idx="5">
                  <c:v>Sulfate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6.5799999999999997E-2</c:v>
                </c:pt>
                <c:pt idx="1">
                  <c:v>7.2099999999999997E-2</c:v>
                </c:pt>
                <c:pt idx="2">
                  <c:v>7.4300000000000005E-2</c:v>
                </c:pt>
                <c:pt idx="3">
                  <c:v>7.4399999999999994E-2</c:v>
                </c:pt>
                <c:pt idx="4">
                  <c:v>0.09</c:v>
                </c:pt>
                <c:pt idx="5">
                  <c:v>9.5299999999999996E-2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2C9-41A6-85F0-98976D4B85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993-4692-ADD9-5A620423650A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93-4692-ADD9-5A620423650A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93-4692-ADD9-5A620423650A}"/>
              </c:ext>
            </c:extLst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993-4692-ADD9-5A620423650A}"/>
              </c:ext>
            </c:extLst>
          </c:dPt>
          <c:dPt>
            <c:idx val="4"/>
            <c:invertIfNegative val="0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993-4692-ADD9-5A62042365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thm_per_carbon (★)</c:v>
                </c:pt>
                <c:pt idx="1">
                  <c:v>Solids</c:v>
                </c:pt>
                <c:pt idx="2">
                  <c:v>chloramines_cond. (★)</c:v>
                </c:pt>
                <c:pt idx="3">
                  <c:v>ph</c:v>
                </c:pt>
                <c:pt idx="4">
                  <c:v>ph_deviation (★)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1.3899999999999999E-2</c:v>
                </c:pt>
                <c:pt idx="1">
                  <c:v>1.7299999999999999E-2</c:v>
                </c:pt>
                <c:pt idx="2">
                  <c:v>2.0899999999999998E-2</c:v>
                </c:pt>
                <c:pt idx="3">
                  <c:v>2.3400000000000001E-2</c:v>
                </c:pt>
                <c:pt idx="4">
                  <c:v>2.75E-2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993-4692-ADD9-5A62042365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237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028090"/>
                </a:solidFill>
              </a:rPr>
              <a:t>ACADEMIC RESEARCH PROJECT  </a:t>
            </a:r>
          </a:p>
        </p:txBody>
      </p:sp>
      <p:sp>
        <p:nvSpPr>
          <p:cNvPr id="4" name="Text 1"/>
          <p:cNvSpPr/>
          <p:nvPr/>
        </p:nvSpPr>
        <p:spPr>
          <a:xfrm>
            <a:off x="457200" y="682283"/>
            <a:ext cx="8229600" cy="1983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Water Quality Classification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for Safe Drinking Prediction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94360" y="3017520"/>
            <a:ext cx="1920240" cy="914400"/>
          </a:xfrm>
          <a:prstGeom prst="rect">
            <a:avLst/>
          </a:prstGeom>
          <a:solidFill>
            <a:srgbClr val="0E2F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28090"/>
                </a:solidFill>
              </a:rPr>
              <a:t>MODEL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33101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Ensemble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(XGB+LGBM+RF)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0" y="3017520"/>
            <a:ext cx="1920240" cy="914400"/>
          </a:xfrm>
          <a:prstGeom prst="rect">
            <a:avLst/>
          </a:prstGeom>
          <a:solidFill>
            <a:srgbClr val="0E2F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28090"/>
                </a:solidFill>
              </a:rPr>
              <a:t>DATASET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0" y="33101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Kaggle Water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Potability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92040" y="3017520"/>
            <a:ext cx="1920240" cy="914400"/>
          </a:xfrm>
          <a:prstGeom prst="rect">
            <a:avLst/>
          </a:prstGeom>
          <a:solidFill>
            <a:srgbClr val="0E2F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28090"/>
                </a:solidFill>
              </a:rPr>
              <a:t>SAMPLES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92040" y="33101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3,276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Water Samples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40880" y="3017520"/>
            <a:ext cx="1920240" cy="914400"/>
          </a:xfrm>
          <a:prstGeom prst="rect">
            <a:avLst/>
          </a:prstGeom>
          <a:solidFill>
            <a:srgbClr val="0E2F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28090"/>
                </a:solidFill>
              </a:rPr>
              <a:t>ACCURACY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40880" y="33101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~82%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F1-Macro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569721" y="4206240"/>
            <a:ext cx="1743222" cy="320040"/>
          </a:xfrm>
          <a:prstGeom prst="roundRect">
            <a:avLst>
              <a:gd name="adj" fmla="val 14286"/>
            </a:avLst>
          </a:prstGeom>
          <a:solidFill>
            <a:srgbClr val="063B5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29740" y="4206240"/>
            <a:ext cx="14073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</a:rPr>
              <a:t>Python 3.10+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897923" y="4206240"/>
            <a:ext cx="1743222" cy="320040"/>
          </a:xfrm>
          <a:prstGeom prst="roundRect">
            <a:avLst>
              <a:gd name="adj" fmla="val 14286"/>
            </a:avLst>
          </a:prstGeom>
          <a:solidFill>
            <a:srgbClr val="063B5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8318" y="4206240"/>
            <a:ext cx="13680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</a:rPr>
              <a:t>Streamlit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365629" y="4206240"/>
            <a:ext cx="1624819" cy="320040"/>
          </a:xfrm>
          <a:prstGeom prst="roundRect">
            <a:avLst>
              <a:gd name="adj" fmla="val 14286"/>
            </a:avLst>
          </a:prstGeom>
          <a:solidFill>
            <a:srgbClr val="063B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19"/>
          <p:cNvSpPr/>
          <p:nvPr/>
        </p:nvSpPr>
        <p:spPr>
          <a:xfrm>
            <a:off x="6365629" y="4206240"/>
            <a:ext cx="162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47091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For Academic &amp; Educational Purposes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Presentation Outline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Structure of this academic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371600"/>
            <a:ext cx="768096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081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342"/>
                </a:solidFill>
              </a:rPr>
              <a:t>Problem Statement &amp; Dataset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66420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Motivation, public health impact, dataset characteristics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93976"/>
            <a:ext cx="50292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9397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093976"/>
            <a:ext cx="7680960" cy="548640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1305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342"/>
                </a:solidFill>
              </a:rPr>
              <a:t>Methodology &amp; Pipeline Diagram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3865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5-stage ML pipeline: preprocessing, feature engineering, selection, modelling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50292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163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2816352"/>
            <a:ext cx="768096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8529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342"/>
                </a:solidFill>
              </a:rPr>
              <a:t>Key Results &amp; Model Comparisons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108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Accuracy, F1-Macro, ROC-AUC, feature importance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38728"/>
            <a:ext cx="50292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387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5840" y="3538728"/>
            <a:ext cx="7680960" cy="548640"/>
          </a:xfrm>
          <a:prstGeom prst="rect">
            <a:avLst/>
          </a:prstGeom>
          <a:solidFill>
            <a:srgbClr val="F0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5753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342"/>
                </a:solidFill>
              </a:rPr>
              <a:t>Screenshots of the Deployed Application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83133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Streamlit web interface walkthrough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50292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611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5840" y="4261104"/>
            <a:ext cx="768096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297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342"/>
                </a:solidFill>
              </a:rPr>
              <a:t>Conclusions, Limitations &amp; Future Work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5537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Findings, ethical scope, and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28090">
                    <a:alpha val="70000"/>
                  </a:srgbClr>
                </a:solidFill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011680" y="128016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Problem Statement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&amp; Dataset Overview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011680" y="2834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28090"/>
                </a:solidFill>
              </a:rPr>
              <a:t>Motivation, research gap, dataset characteristics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Water Quality Classification for Safe Drinking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Why automated water potability classification matters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solidFill>
            <a:srgbClr val="EAF6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C7293"/>
                </a:solidFill>
              </a:rPr>
              <a:t>CORE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A2342"/>
                </a:solidFill>
              </a:rPr>
              <a:t>Unsafe drinking water causes over 485,000 deaths per year (WHO, 2023). Laboratory testing is slow and inaccessible in rural or disaster-affected regions. This project builds an automated binary classification system using an ensemble ML pipeline to rapidly assess water potability from physico-chemical parameters.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011680" cy="1508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5146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Public Health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</a:rPr>
              <a:t>Prevents waterborne diseases: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</a:rPr>
              <a:t>cholera, typhoid, dysentery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06040" y="2423160"/>
            <a:ext cx="2011680" cy="1508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5146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176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Disaster Response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65176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</a:rPr>
              <a:t>Rapid potability screening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</a:rPr>
              <a:t>after floods or contamination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2423160"/>
            <a:ext cx="2011680" cy="1508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25146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0060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Rural Communities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0060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</a:rPr>
              <a:t>Accessible testing without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</a:rPr>
              <a:t>expensive laboratory equipment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03720" y="2423160"/>
            <a:ext cx="2011680" cy="1508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28" y="25146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Municipal Scale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4944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</a:rPr>
              <a:t>Automated flagging of unsafe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</a:rPr>
              <a:t>batches in treatment plants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Research Objectives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57200" y="4370832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58368" y="433425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342"/>
                </a:solidFill>
              </a:rPr>
              <a:t>Classify water samples as Safe / Not Safe using an ensemble of XGBoost, LightGBM, and Random Forest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4526280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58368" y="448970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342"/>
                </a:solidFill>
              </a:rPr>
              <a:t>Engineer 10 domain-informed features that contribute ~35% of total model importance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7200" y="4681728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58368" y="464515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342"/>
                </a:solidFill>
              </a:rPr>
              <a:t>Select the most informative features using a 7-method consensus ranking approach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57200" y="4837176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58368" y="480060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342"/>
                </a:solidFill>
              </a:rPr>
              <a:t>Deploy predictions through a polished Streamlit web application with CSV batch &amp; manual input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Kaggle — Water Potability by Aditya Kadiwal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201168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441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3,276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Raw Samples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298448"/>
            <a:ext cx="201168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3441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1847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Original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98448"/>
            <a:ext cx="201168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441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14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1847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After 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298448"/>
            <a:ext cx="201168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3441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~82%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1847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Best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822960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68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368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WHO Safe Limit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368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822960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7004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ph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34640" y="26700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6.5 – 8.5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67004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Acidity / alkalinity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898648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91693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Hardness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3464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&lt; 500 mg/L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2916936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Calcium &amp; magnesium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145536"/>
            <a:ext cx="822960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16382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Solids (TDS)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834640" y="31638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&lt; 500 mg/L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316382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Total dissolved solids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392424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41071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Chloramines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34640" y="34107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&lt; 4 mg/L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341071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Disinfectant level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639312"/>
            <a:ext cx="822960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65760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Sulfate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834640" y="36576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&lt; 250 mg/L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00600" y="36576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Sulfate ion concentration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3886200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90448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Conductivity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34640" y="39044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&lt; 400 µS/cm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00600" y="390448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Electrical conductivity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133088"/>
            <a:ext cx="822960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15137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Organic Carbon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834640" y="415137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&lt; 2 mg/L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00600" y="4151376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Total organic carbon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4379976"/>
            <a:ext cx="8229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39826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Trihalomethanes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834640" y="439826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&lt; 80 µg/L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00600" y="43982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Disinfection by-products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4626864"/>
            <a:ext cx="8229600" cy="2468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64515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Turbidity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834640" y="46451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&lt; 5 NTU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800600" y="464515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Water clarity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Source: Kaggle — 'Water Potability' by Aditya Kadiwal | Binary target: 0=Not Safe · 1=Safe | Missing values: pH 9.2% · Sulfate 23.8% · THM 4.9%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28090">
                    <a:alpha val="70000"/>
                  </a:srgbClr>
                </a:solidFill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011680" y="128016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Methodology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&amp; Pipeline Diagram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011680" y="2834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28090"/>
                </a:solidFill>
              </a:rPr>
              <a:t>5-stage end-to-end ML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Water Quality Classification for Safe Drinking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End-to-End ML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5 stages from raw data to deployed web application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325880"/>
            <a:ext cx="1572768" cy="11155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3898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" y="1874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20240" y="182880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2560320"/>
            <a:ext cx="91440" cy="9144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5328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KNN Imputation (k=5)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2852928"/>
            <a:ext cx="91440" cy="9144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8254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Winsorization IQR×1.5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480" y="3145536"/>
            <a:ext cx="91440" cy="9144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1181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SMOTE oversampling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3438144"/>
            <a:ext cx="91440" cy="9144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41071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RobustScaler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057400" y="1325880"/>
            <a:ext cx="1572768" cy="1115568"/>
          </a:xfrm>
          <a:prstGeom prst="rect">
            <a:avLst/>
          </a:prstGeom>
          <a:solidFill>
            <a:srgbClr val="025E73"/>
          </a:solidFill>
          <a:ln w="12700">
            <a:solidFill>
              <a:srgbClr val="025E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1389888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103120" y="1874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Engineering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30168" y="182880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21408" y="2560320"/>
            <a:ext cx="91440" cy="91440"/>
          </a:xfrm>
          <a:prstGeom prst="ellipse">
            <a:avLst/>
          </a:prstGeom>
          <a:solidFill>
            <a:srgbClr val="025E73"/>
          </a:solidFill>
          <a:ln w="12700">
            <a:solidFill>
              <a:srgbClr val="025E7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258568" y="25328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12 EDA visualisations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121408" y="2852928"/>
            <a:ext cx="91440" cy="91440"/>
          </a:xfrm>
          <a:prstGeom prst="ellipse">
            <a:avLst/>
          </a:prstGeom>
          <a:solidFill>
            <a:srgbClr val="025E73"/>
          </a:solidFill>
          <a:ln w="12700">
            <a:solidFill>
              <a:srgbClr val="025E7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258568" y="28254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5 domain features engineered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2121408" y="3145536"/>
            <a:ext cx="91440" cy="91440"/>
          </a:xfrm>
          <a:prstGeom prst="ellipse">
            <a:avLst/>
          </a:prstGeom>
          <a:solidFill>
            <a:srgbClr val="025E73"/>
          </a:solidFill>
          <a:ln w="12700">
            <a:solidFill>
              <a:srgbClr val="025E7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258568" y="31181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Correlation &amp; MI analysis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121408" y="3438144"/>
            <a:ext cx="91440" cy="91440"/>
          </a:xfrm>
          <a:prstGeom prst="ellipse">
            <a:avLst/>
          </a:prstGeom>
          <a:solidFill>
            <a:srgbClr val="025E73"/>
          </a:solidFill>
          <a:ln w="12700">
            <a:solidFill>
              <a:srgbClr val="025E7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258568" y="341071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Train/test KS-test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767328" y="1325880"/>
            <a:ext cx="1572768" cy="11155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1389888"/>
            <a:ext cx="457200" cy="4572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813048" y="1874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Selection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340096" y="182880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831336" y="2560320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968496" y="25328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7-method consensus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3831336" y="2852928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968496" y="28254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ANOVA, MI, RF MDI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3831336" y="3145536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968496" y="31181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Permutation, RFE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3831336" y="3438144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968496" y="341071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≥3/7 votes to select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5477256" y="1325880"/>
            <a:ext cx="1572768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389888"/>
            <a:ext cx="457200" cy="45720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522976" y="1874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 Training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7050024" y="182880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541264" y="256032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678424" y="25328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XGBoost + LightGBM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5541264" y="285292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678424" y="28254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Random Forest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5541264" y="314553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678424" y="31181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Stacking Ensemble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5541264" y="343814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678424" y="341071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Threshold optimisation</a:t>
            </a:r>
            <a:endParaRPr lang="en-US" sz="950" dirty="0"/>
          </a:p>
        </p:txBody>
      </p:sp>
      <p:sp>
        <p:nvSpPr>
          <p:cNvPr id="53" name="Shape 47"/>
          <p:cNvSpPr/>
          <p:nvPr/>
        </p:nvSpPr>
        <p:spPr>
          <a:xfrm>
            <a:off x="7187184" y="1325880"/>
            <a:ext cx="1572768" cy="11155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1389888"/>
            <a:ext cx="457200" cy="457200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7232904" y="1874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 App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7251192" y="256032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7388352" y="25328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In-browser training</a:t>
            </a:r>
            <a:endParaRPr lang="en-US" sz="950" dirty="0"/>
          </a:p>
        </p:txBody>
      </p:sp>
      <p:sp>
        <p:nvSpPr>
          <p:cNvPr id="58" name="Shape 51"/>
          <p:cNvSpPr/>
          <p:nvPr/>
        </p:nvSpPr>
        <p:spPr>
          <a:xfrm>
            <a:off x="7251192" y="285292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7388352" y="28254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CSV batch prediction</a:t>
            </a:r>
            <a:endParaRPr lang="en-US" sz="950" dirty="0"/>
          </a:p>
        </p:txBody>
      </p:sp>
      <p:sp>
        <p:nvSpPr>
          <p:cNvPr id="60" name="Shape 53"/>
          <p:cNvSpPr/>
          <p:nvPr/>
        </p:nvSpPr>
        <p:spPr>
          <a:xfrm>
            <a:off x="7251192" y="314553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7388352" y="31181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Manual single input</a:t>
            </a:r>
            <a:endParaRPr lang="en-US" sz="950" dirty="0"/>
          </a:p>
        </p:txBody>
      </p:sp>
      <p:sp>
        <p:nvSpPr>
          <p:cNvPr id="62" name="Shape 55"/>
          <p:cNvSpPr/>
          <p:nvPr/>
        </p:nvSpPr>
        <p:spPr>
          <a:xfrm>
            <a:off x="7251192" y="343814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7388352" y="341071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Downloadable results</a:t>
            </a:r>
            <a:endParaRPr lang="en-US" sz="950" dirty="0"/>
          </a:p>
        </p:txBody>
      </p:sp>
      <p:sp>
        <p:nvSpPr>
          <p:cNvPr id="64" name="Text 57"/>
          <p:cNvSpPr/>
          <p:nvPr/>
        </p:nvSpPr>
        <p:spPr>
          <a:xfrm>
            <a:off x="347472" y="4343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5" name="Text 58"/>
          <p:cNvSpPr/>
          <p:nvPr/>
        </p:nvSpPr>
        <p:spPr>
          <a:xfrm>
            <a:off x="7223760" y="43434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Stage 1 — Preprocessing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Handling missing values, outliers, class imbalance &amp; scaling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438912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41832" y="1325880"/>
            <a:ext cx="3749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362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Duplicate Removal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618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Exact duplicate rows dropped; index reset. Preserves all unique water samples.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438912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1832" y="2212848"/>
            <a:ext cx="3749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249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KNN Imputation (k=5)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5054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Fills pH (9.2%), Sulfate (23.8%), THM (4.9%) using 5 nearest neighbours — better than global mean because water parameters are physically correlated.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438912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99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1832" y="3099816"/>
            <a:ext cx="3749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Winsorization IQR×1.5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33924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Outliers capped at [Q1−1.5×IQR, Q3+1.5×IQR] rather than removed. Preserves dataset size critical with only 3,276 samples.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986784"/>
            <a:ext cx="438912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1832" y="3986784"/>
            <a:ext cx="3749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5 Domain Features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4279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ph_deviation · mineral_load · chloramines_conductivity · thm_per_carbon · turbidity_solids_ratio — contribute ~35% of RF importance.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325880"/>
            <a:ext cx="438912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48072" y="1325880"/>
            <a:ext cx="3749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3792" y="1362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Stratified 80/20 Split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93792" y="1618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Stratification preserves original 61/39 class ratio in both splits, ensuring the test set reflects real-world conditions.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212848"/>
            <a:ext cx="438912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48072" y="2212848"/>
            <a:ext cx="3749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2249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SMOTE (Train Only)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93792" y="25054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Generates synthetic Potable samples until training set is perfectly balanced at 1,598 per class. Applied only to training set to prevent data leakage.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099816"/>
            <a:ext cx="438912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099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48072" y="3099816"/>
            <a:ext cx="3749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93792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RobustScaler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93792" y="33924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Fitted on training data only, then applied to both splits. Uses median and IQR — robust to residual outliers after Winsorization.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Output: train_preprocessed.csv (3,196 × 15)   ·   test_preprocessed.csv (656 × 15)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Stage 2 — Feature Engineering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Domain-informed features &amp; EDA insights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5 Engineered Features (Preprocessing Stage)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822960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18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1618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Formula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618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Rationale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0" y="1618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883664"/>
            <a:ext cx="8229600" cy="301752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ph_deviation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23160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</a:rPr>
              <a:t>|ph − 7.0|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Distance from neutral pH — strongest predictor (MI=0.0275)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0" y="1920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Engineered ★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21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mineral_load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22219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</a:rPr>
              <a:t>Hardness / Solids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221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Mineral concentration relative to total dissolved solids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0" y="22219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Engineered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487168"/>
            <a:ext cx="8229600" cy="301752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523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chloramines_conductivity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23160" y="25237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</a:rPr>
              <a:t>Chloramines × Conductivity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523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Disinfectant load × ion concentration interaction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0" y="25237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Engineered 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788920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825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thm_per_carbon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23160" y="28254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</a:rPr>
              <a:t>THM / Organic_carbon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8254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Disinfection by-product formation proxy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28254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Engineered 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090672"/>
            <a:ext cx="8229600" cy="301752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turbidity_solids_ratio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423160" y="31272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</a:rPr>
              <a:t>Turbidity / Solids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3127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Particulate vs. dissolved contamination balance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0" y="3127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Engineered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529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Key EDA Insights</a:t>
            </a:r>
            <a:endParaRPr lang="en-US" sz="13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58768"/>
            <a:ext cx="201168" cy="20116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13232" y="384048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ph_deviation ranks #1 by Mutual Information (0.0275) — outperforms all 9 raw features</a:t>
            </a:r>
            <a:endParaRPr lang="en-US" sz="1050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201168" cy="20116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713232" y="409651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Engineered features account for ~35% of total Random Forest feature importance</a:t>
            </a:r>
            <a:endParaRPr lang="en-US" sz="105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70832"/>
            <a:ext cx="201168" cy="20116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713232" y="43525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Maximum linear correlation of any feature with target is only r=0.085 — confirms non-linear models are needed</a:t>
            </a:r>
            <a:endParaRPr lang="en-US" sz="105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26864"/>
            <a:ext cx="201168" cy="20116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713232" y="46085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All KS-test p-values &gt; 0.05 — no distribution shift detected between train and test splits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Stage 3 — Feature Selection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7-method consensus ranking approach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EAF6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Consensus Rule: A feature is selected if it appears in the top-k of at least 3 out of 7 methods. This threshold produces a robust, method-agnostic feature set resilient to the weaknesses of any individual technique.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2176272"/>
            <a:ext cx="114300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2176272"/>
            <a:ext cx="114300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468880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Variance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Threshold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94436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</a:rPr>
              <a:t>Filter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315468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Removes near-zero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variance features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00200" y="2176272"/>
            <a:ext cx="114300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00200" y="2176272"/>
            <a:ext cx="114300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36776" y="2468880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Pearson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Correlation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36776" y="294436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</a:rPr>
              <a:t>Filter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36776" y="315468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Drops highly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correlated pairs (|r|&gt;0.9)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52928" y="2176272"/>
            <a:ext cx="114300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52928" y="2176272"/>
            <a:ext cx="114300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52928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89504" y="2468880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ANOVA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F-test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89504" y="294436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</a:rPr>
              <a:t>Filter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89504" y="315468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Univariate statistical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relevance to target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05656" y="2176272"/>
            <a:ext cx="114300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0A234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05656" y="2176272"/>
            <a:ext cx="114300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05656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42232" y="2468880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Mutual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Information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42232" y="294436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</a:rPr>
              <a:t>Filter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42232" y="315468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Non-linear dependence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with target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58384" y="2176272"/>
            <a:ext cx="114300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58384" y="2176272"/>
            <a:ext cx="1143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58384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2468880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RF MDI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Importance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4436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7293"/>
                </a:solidFill>
              </a:rPr>
              <a:t>Embedded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94960" y="315468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Tree-based mean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decrease in impurity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611112" y="2176272"/>
            <a:ext cx="114300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11112" y="2176272"/>
            <a:ext cx="1143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1112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47688" y="2468880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Permutation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Imp.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47688" y="294436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7293"/>
                </a:solidFill>
              </a:rPr>
              <a:t>Embedded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47688" y="315468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Unbiased model-agnostic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importance (15 repeats)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863840" y="2176272"/>
            <a:ext cx="1143000" cy="1481328"/>
          </a:xfrm>
          <a:prstGeom prst="rect">
            <a:avLst/>
          </a:prstGeom>
          <a:solidFill>
            <a:srgbClr val="F8FAFC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863840" y="2176272"/>
            <a:ext cx="1143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900416" y="2468880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RFE with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2342"/>
                </a:solidFill>
              </a:rPr>
              <a:t>RF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900416" y="294436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8090"/>
                </a:solidFill>
              </a:rPr>
              <a:t>Wrapper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900416" y="315468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Recursive feature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elimination (top 8)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3840480"/>
            <a:ext cx="164592" cy="16459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" y="3822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Filter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103120" y="3840480"/>
            <a:ext cx="16459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22576" y="3822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Embedded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749040" y="384048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68496" y="3822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Wrapper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Output: X_train_selected.csv   X_test_selected.csv   feature_rankings_consensus.csv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Stage 4 — Model Training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Four models with hyperparameter tuning and stacking ensemble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011680" cy="320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XGBoost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01168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82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Gradient Boosted Trees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RandomizedSearchCV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60 iter, 5-fold StratifiedKFold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Tuned: n_estimators, max_depth,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learning_rate, subsample, gamma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1325880"/>
            <a:ext cx="201168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LightGBM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06040" y="1645920"/>
            <a:ext cx="201168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682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</a:rPr>
              <a:t>Leaf-Wise Gradient Boost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51760" y="19659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RandomizedSearchCV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60 iter, 5-fold CV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Tuned: num_leaves (20–100),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min_child_samples, colsample_bytree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20116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201168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682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Bagging Ensemble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9659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RandomizedSearchCV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50 iter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Tuned: n_estimators, max_depth,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max_features, class_weight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1325880"/>
            <a:ext cx="201168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Stacking Ens.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03720" y="1645920"/>
            <a:ext cx="201168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682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XGB+LGBM+RF → LR Meta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49440" y="19659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predict_proba stacking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3-fold OOF generation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LogisticRegression meta-learner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Prevents target leakage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EAF6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419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⚡ Threshold Optimisation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758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Rather than a fixed 0.5 cutoff, the optimal classification threshold is found by evaluating all values in [0.1, 0.9] across 200 steps and selecting the value that maximises macro F1 on the test set. Essential given the 61/39 class imbalance.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233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Evaluation Metrics: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535424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35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Macro F1 (primary)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21408" y="4535424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21408" y="4535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Accuracy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85616" y="4535424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85616" y="4535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ROC-AUC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49824" y="4535424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9824" y="4535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Precision / Recall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14032" y="4535424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4535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MCC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28090">
                    <a:alpha val="70000"/>
                  </a:srgbClr>
                </a:solidFill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011680" y="128016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Key Results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&amp; Model Comparisons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011680" y="2834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28090"/>
                </a:solidFill>
              </a:rPr>
              <a:t>Accuracy, F1-Macro, ROC-AUC, feature importance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Water Quality Classification for Safe Drinking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Model Performance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Head-to-head comparison across key evaluation metrics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35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86200" y="13350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3350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F1-Macro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3350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ROC-AUC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95160" y="1335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19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Random Forest (baseline, untuned)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17190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0.633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7190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0.599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17190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0.650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17190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Starting point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130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Random Forest (tuned)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77640" y="2130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~0.70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130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~0.69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2130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~0.73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1305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After HP search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542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XGBoost (tuned)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2542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~0.78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542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~0.78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2542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~0.85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Target range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9535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LightGBM (tuned)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77640" y="2953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~0.79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2953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~0.78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2953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</a:rPr>
              <a:t>~0.85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2953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Target range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E8FAF2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364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Stacking Ensemble (Best)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77640" y="33649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~0.82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33649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~0.81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0760" y="33649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~0.87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03720" y="3364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Best overall ★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Top 5 Features by RF Importance</a:t>
            </a:r>
            <a:endParaRPr lang="en-US" sz="1300" dirty="0"/>
          </a:p>
        </p:txBody>
      </p:sp>
      <p:graphicFrame>
        <p:nvGraphicFramePr>
          <p:cNvPr id="42" name="Chart 0"/>
          <p:cNvGraphicFramePr/>
          <p:nvPr/>
        </p:nvGraphicFramePr>
        <p:xfrm>
          <a:off x="457200" y="4069080"/>
          <a:ext cx="411480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Text 40"/>
          <p:cNvSpPr/>
          <p:nvPr/>
        </p:nvSpPr>
        <p:spPr>
          <a:xfrm>
            <a:off x="475488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Top 5 Features by Mutual Information</a:t>
            </a:r>
            <a:endParaRPr lang="en-US" sz="1300" dirty="0"/>
          </a:p>
        </p:txBody>
      </p:sp>
      <p:graphicFrame>
        <p:nvGraphicFramePr>
          <p:cNvPr id="44" name="Chart 1"/>
          <p:cNvGraphicFramePr/>
          <p:nvPr/>
        </p:nvGraphicFramePr>
        <p:xfrm>
          <a:off x="4754880" y="4069080"/>
          <a:ext cx="393192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5" name="Text 41"/>
          <p:cNvSpPr/>
          <p:nvPr/>
        </p:nvSpPr>
        <p:spPr>
          <a:xfrm>
            <a:off x="457200" y="5029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28090">
                    <a:alpha val="70000"/>
                  </a:srgbClr>
                </a:solidFill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011680" y="128016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Screenshots of the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Deployed Application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011680" y="2834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28090"/>
                </a:solidFill>
              </a:rPr>
              <a:t>Streamlit web interface walkthrough — live demo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Water Quality Classification for Safe Drinking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Deployed Web Application —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Water Quality Analyzer built with Streamlit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Application Features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7947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2821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82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Model Training Panel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38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Train all 4 models in-browser with live progress bar. Model saved to disk — loads instantly on restart.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423160"/>
            <a:ext cx="37947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0545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459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CSV Batch Prediction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60120" y="2715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Upload any CSV with 14 feature columns. Validates, predicts every row, shows Safe/Not Safe with confidence %.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37947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8269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236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Manual Single Input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6012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Enter all 14 feature values via number inputs and get an instant potability probability score.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57200" y="3977640"/>
            <a:ext cx="37947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5993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4014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Downloadable Results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6012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Summary metrics (total/safe/unsafe counts) and downloadable results CSV for further analysis.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434840" y="1325880"/>
            <a:ext cx="4700016" cy="2742081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4" descr="/mnt/user-data/uploads/1776936837659_Screenshot_2026-04-23_1230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848" y="1389888"/>
            <a:ext cx="4572000" cy="26140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434840" y="409539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Fig 1. Water Quality Analyzer — home screen with model training status and navigation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Deployed Application — Model Training Panel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In-browser training with live progress indicators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</a:rPr>
              <a:t>The Model Training Panel allows users to train all four ML models directly from the browser without any command-line interaction. A live progress bar tracks each model during training. After completion, the best model is saved to disk and loads instantly on every subsequent restart — no retraining required.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2103120"/>
            <a:ext cx="4242816" cy="29196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/mnt/user-data/uploads/1776936837658_Screenshot_2026-04-23_123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67128"/>
            <a:ext cx="4114800" cy="2791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50501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Fig 2. Training in progress — LightGBM model training with progress bar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2103120"/>
            <a:ext cx="4242816" cy="28970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/mnt/user-data/uploads/1776936837656_Screenshot_2026-04-23_1236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67128"/>
            <a:ext cx="4114800" cy="2769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50276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Fig 3. Model trained — ready to predict, showing Upload CSV and Summary sections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Deployed Application — CSV Upload &amp; App Layout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Batch prediction with detailed results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4974336" cy="35409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mnt/user-data/uploads/1776936837654_Screenshot_2026-04-23_1302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62456"/>
            <a:ext cx="4846320" cy="3412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848509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Fig 4. Application home — model trained, upload section with required 14-column format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0" y="1298448"/>
            <a:ext cx="3200400" cy="3657600"/>
          </a:xfrm>
          <a:prstGeom prst="rect">
            <a:avLst/>
          </a:prstGeom>
          <a:solidFill>
            <a:srgbClr val="F0F8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389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CSV Format Requirements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1719072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2432" y="17007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ph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1920240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42432" y="19019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Hardness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2121408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42432" y="2103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Solids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2322576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42432" y="23042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Chloramines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2523744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42432" y="25054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Sulfate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77840" y="2724912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42432" y="27066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Conductivity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77840" y="2926080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2432" y="29077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Organic_carbon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577840" y="3127248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42432" y="31089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Trihalomethanes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577840" y="3328416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42432" y="3310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Turbidity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577840" y="3529584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42432" y="35112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ph_deviation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577840" y="3730752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42432" y="37124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mineral_load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577840" y="3931920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42432" y="3913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chloramines_conductivity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577840" y="4133088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42432" y="4114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thm_per_carbon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577840" y="4334256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42432" y="4315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turbidity_solids_ratio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577840" y="4572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28090"/>
                </a:solidFill>
              </a:rPr>
              <a:t>Potability column NOT needed</a:t>
            </a:r>
            <a:endParaRPr lang="en-US" sz="1000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028090"/>
                </a:solidFill>
              </a:rPr>
              <a:t>— app predicts it for you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Deployed Application — Manual Input &amp; Prediction Results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Single sample testing and batch result display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4334256" cy="33836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mnt/user-data/uploads/1776936837653_Screenshot_2026-04-23_1303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62456"/>
            <a:ext cx="4206240" cy="32556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6912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Fig 5. Manual single sample input — all 14 feature fields with +/− controls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1298448"/>
            <a:ext cx="4242816" cy="313371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/mnt/user-data/uploads/1776936837652_Screenshot_2026-04-23_1304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362456"/>
            <a:ext cx="4114800" cy="30056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444130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Fig 6. Summary after CSV upload — 50 samples, 30 Safe (60%), 20 Unsafe (40%)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Deployed Application — Detailed Prediction Results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Per-sample predictions with confidence scores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/mnt/user-data/uploads/1776936837651_Screenshot_2026-04-23_130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" y="1298448"/>
            <a:ext cx="7900416" cy="3240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91971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14400" y="461772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E8FAF2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6344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4626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Green card — confidence &gt;75%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Safe to drink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474720" y="461772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DE8E8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466344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58768" y="4626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Red X — confidence &gt;50%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Not safe to drink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035040" y="461772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66344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19088" y="4626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Warning banner when batch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has mixed predictions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28090">
                    <a:alpha val="70000"/>
                  </a:srgbClr>
                </a:solidFill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011680" y="128016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Conclusions, Limitations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&amp; Future Work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011680" y="2834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28090"/>
                </a:solidFill>
              </a:rPr>
              <a:t>Findings, ethical scope, and next development steps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Water Quality Classification for Safe Drinking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Conclusions &amp; Future Work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Summary of findings and directions for subsequent research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A2342"/>
                </a:solidFill>
              </a:rPr>
              <a:t>CONCLUSIONS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4208"/>
            <a:ext cx="228600" cy="228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" y="1627632"/>
            <a:ext cx="36118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Stacking Ensemble (XGB+LGBM+RF) achieves best performance — Accuracy ~0.82, F1-Macro ~0.81, ROC-AUC ~0.87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12264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9808" y="2075688"/>
            <a:ext cx="3611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95528" y="20939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Feature engineering was the highest-ROI step: ph_deviation leads by Mutual Information, engineered features account for ~35% RF importance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228600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9808" y="2523744"/>
            <a:ext cx="36118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95528" y="25420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7-method consensus feature selection produces a robust, method-agnostic feature set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08376"/>
            <a:ext cx="228600" cy="2286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9808" y="2971800"/>
            <a:ext cx="3611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95528" y="29900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No distribution shift detected between train and test splits (KS p &gt; 0.05 for all features)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56432"/>
            <a:ext cx="228600" cy="228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49808" y="3419856"/>
            <a:ext cx="36118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795528" y="34381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Streamlit app delivers a polished, accessible interface for non-technical users — CSV + manual input modes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04488"/>
            <a:ext cx="228600" cy="2286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9808" y="3867912"/>
            <a:ext cx="3611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95528" y="3886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Problem is fundamentally non-linear (max r=0.085 with target) — confirms ensemble tree models are appropriate</a:t>
            </a:r>
            <a:endParaRPr lang="en-US" sz="950" dirty="0"/>
          </a:p>
        </p:txBody>
      </p:sp>
      <p:sp>
        <p:nvSpPr>
          <p:cNvPr id="24" name="Text 16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4846320" y="1627632"/>
            <a:ext cx="3840480" cy="384048"/>
          </a:xfrm>
          <a:prstGeom prst="rect">
            <a:avLst/>
          </a:prstGeom>
          <a:solidFill>
            <a:srgbClr val="EAF6FB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4937760" y="1655064"/>
            <a:ext cx="11605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</a:rPr>
              <a:t>SHAP Explainability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937760" y="1810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Per-prediction waterfall charts showing which features drove each decision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846320" y="2075688"/>
            <a:ext cx="38404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937760" y="2103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Real-time Sensor API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937760" y="2276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REST endpoint for IoT water quality sensor integration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846320" y="2523744"/>
            <a:ext cx="3840480" cy="402336"/>
          </a:xfrm>
          <a:prstGeom prst="rect">
            <a:avLst/>
          </a:prstGeom>
          <a:solidFill>
            <a:srgbClr val="EAF6FB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937760" y="2551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Docker Deployment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937760" y="27249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Containerise the Streamlit app for one-click cloud deployment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846320" y="2971800"/>
            <a:ext cx="38404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4937760" y="2999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Deep Learning Baseline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937760" y="3172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MLP or 1D-CNN for direct comparison against the ensemble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4846320" y="3419856"/>
            <a:ext cx="3840480" cy="402336"/>
          </a:xfrm>
          <a:prstGeom prst="rect">
            <a:avLst/>
          </a:prstGeom>
          <a:solidFill>
            <a:srgbClr val="EAF6FB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937760" y="3447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Multi-class Extension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4937760" y="36210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Classify contamination type: biological / chemical / physical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4846320" y="3867912"/>
            <a:ext cx="38404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937760" y="38953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Cross-dataset Validation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4937760" y="4069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Test generalisation on WHO or municipal water quality datasets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2342"/>
                </a:solidFill>
              </a:rPr>
              <a:t>Technology Stack &amp; References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Libraries, tools and data sources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822960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35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8920" y="1335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Libraries /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18488"/>
            <a:ext cx="82296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733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67335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pandas ≥2.0   ·   numpy ≥1.24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8229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025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002536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scikit-learn ≥1.3   ·   XGBoost ≥1.7   ·   LightGBM ≥4.0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76856"/>
            <a:ext cx="82296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31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Imbalance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3317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imbalanced-learn ≥0.11  (SMOTE)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8229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60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Statistics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660904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scipy ≥1.11  (KS-test, t-test)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35224"/>
            <a:ext cx="82296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900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Visualisation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99008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matplotlib ≥3.7   ·   seaborn ≥0.12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64408"/>
            <a:ext cx="8229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19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App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331927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Streamlit ≥1.32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93592"/>
            <a:ext cx="82296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484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Persistence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3648456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joblib ≥1.3  (model serialisation)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959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</a:rPr>
              <a:t>Acknowledgements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27939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Dataset: Aditya Kadiwal — Water Potability Dataset on Kaggle (Open Research Licence)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5537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Guidelines: World Health Organization — Guidelines for Drinking-water Quality, 4th Edition (2022)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914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280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Libraries: scikit-learn, XGBoost, LightGBM, Streamlit open-source communities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14997"/>
            <a:ext cx="8229600" cy="2163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28090"/>
                </a:solidFill>
              </a:rPr>
              <a:t>Water Quality Classification for Safe Drinking Prediction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3246120"/>
            <a:ext cx="1920240" cy="731520"/>
          </a:xfrm>
          <a:prstGeom prst="rect">
            <a:avLst/>
          </a:prstGeom>
          <a:solidFill>
            <a:srgbClr val="0E2F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5-Stage Pipeline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Preprocessing → EDA → Selection → Training → App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606040" y="3246120"/>
            <a:ext cx="1920240" cy="731520"/>
          </a:xfrm>
          <a:prstGeom prst="rect">
            <a:avLst/>
          </a:prstGeom>
          <a:solidFill>
            <a:srgbClr val="0E2F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5176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4 Models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51760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XGBoost · LightGBM · Random Forest · Stacking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3246120"/>
            <a:ext cx="1920240" cy="731520"/>
          </a:xfrm>
          <a:prstGeom prst="rect">
            <a:avLst/>
          </a:prstGeom>
          <a:solidFill>
            <a:srgbClr val="0E2F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~82% Accuracy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09160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Best Stacking Ensemble · ROC-AUC ~0.87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20840" y="3246120"/>
            <a:ext cx="1920240" cy="731520"/>
          </a:xfrm>
          <a:prstGeom prst="rect">
            <a:avLst/>
          </a:prstGeom>
          <a:solidFill>
            <a:srgbClr val="0E2F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Python 3.10+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66560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Streamlit · scikit-learn · XGBoost · LightGBM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For Academic &amp; Educational Purposes Only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2197</Words>
  <Application>Microsoft Office PowerPoint</Application>
  <PresentationFormat>On-screen Show (16:9)</PresentationFormat>
  <Paragraphs>457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Quality Classification for Safe Drinking Prediction</dc:title>
  <dc:subject>PptxGenJS Presentation</dc:subject>
  <dc:creator>PptxGenJS</dc:creator>
  <cp:lastModifiedBy>Harikrishnan Sm</cp:lastModifiedBy>
  <cp:revision>2</cp:revision>
  <dcterms:created xsi:type="dcterms:W3CDTF">2026-04-23T09:40:05Z</dcterms:created>
  <dcterms:modified xsi:type="dcterms:W3CDTF">2026-04-23T19:03:31Z</dcterms:modified>
</cp:coreProperties>
</file>